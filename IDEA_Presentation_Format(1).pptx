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8" r:id="rId3"/>
    <p:sldId id="281" r:id="rId4"/>
    <p:sldId id="290" r:id="rId5"/>
    <p:sldId id="293" r:id="rId6"/>
    <p:sldId id="299" r:id="rId7"/>
    <p:sldId id="296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502920" y="219456"/>
            <a:ext cx="11185855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3400" b="1" i="0">
                <a:solidFill>
                  <a:srgbClr val="1F497D"/>
                </a:solidFill>
                <a:latin typeface="Arial"/>
              </a:rPr>
              <a:t>ECO-LOOP BUILDING AGENTS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914400"/>
            <a:ext cx="11185855" cy="603504"/>
          </a:xfrm>
          <a:prstGeom prst="roundRect">
            <a:avLst>
              <a:gd name="adj" fmla="val 2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 marL="0" indent="0">
              <a:buNone/>
            </a:pPr>
            <a:r>
              <a:rPr sz="2100" b="1" i="0">
                <a:solidFill>
                  <a:srgbClr val="FFFFFF"/>
                </a:solidFill>
                <a:latin typeface="Arial"/>
              </a:rPr>
              <a:t>AI that thinks before your building wastes energy.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09344"/>
            <a:ext cx="1118585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 algn="ctr">
              <a:buNone/>
            </a:pPr>
            <a:r>
              <a:rPr sz="1250" b="0" i="0">
                <a:solidFill>
                  <a:srgbClr val="666E7A"/>
                </a:solidFill>
                <a:latin typeface="Arial"/>
              </a:rPr>
              <a:t>An open-source LLM closes the control loop on a live EnergyPlus simulation — set-points injected into the running instance, savings proven against an identical baseline.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03120"/>
            <a:ext cx="5532120" cy="3246120"/>
          </a:xfrm>
          <a:prstGeom prst="roundRect">
            <a:avLst>
              <a:gd name="adj" fmla="val 10000"/>
            </a:avLst>
          </a:prstGeom>
          <a:solidFill>
            <a:srgbClr val="E7EEF7"/>
          </a:solidFill>
          <a:ln w="12700">
            <a:solidFill>
              <a:srgbClr val="D3DF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 txBox="1"/>
          <p:nvPr/>
        </p:nvSpPr>
        <p:spPr>
          <a:xfrm>
            <a:off x="685800" y="2249424"/>
            <a:ext cx="5166360" cy="29718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l">
              <a:buNone/>
            </a:pPr>
            <a:r>
              <a:rPr sz="1100" b="1" i="0">
                <a:solidFill>
                  <a:srgbClr val="365F91"/>
                </a:solidFill>
                <a:latin typeface="Arial"/>
              </a:rPr>
              <a:t>PROBLEM STATEMENT</a:t>
            </a:r>
            <a:endParaRPr lang="en-US" dirty="0"/>
          </a:p>
          <a:p>
            <a:pPr marL="0" indent="0" algn="l">
              <a:spcBef>
                <a:spcPts val="700"/>
              </a:spcBef>
              <a:buNone/>
            </a:pPr>
            <a:r>
              <a:rPr sz="1250" b="0" i="0">
                <a:solidFill>
                  <a:srgbClr val="333333"/>
                </a:solidFill>
                <a:latin typeface="Arial"/>
              </a:rPr>
              <a:t>ID  —  «fill in from portal»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sz="1250" b="0" i="0">
                <a:solidFill>
                  <a:srgbClr val="333333"/>
                </a:solidFill>
                <a:latin typeface="Arial"/>
              </a:rPr>
              <a:t>Title  —  Eco-Loop Building Agents: autonomous closed-loop building control  (Honeywell Hackathon · Question 1)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sz="1250" b="0" i="0">
                <a:solidFill>
                  <a:srgbClr val="333333"/>
                </a:solidFill>
                <a:latin typeface="Arial"/>
              </a:rPr>
              <a:t>Theme  —  «fill in from portal»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sz="1250" b="0" i="0">
                <a:solidFill>
                  <a:srgbClr val="333333"/>
                </a:solidFill>
                <a:latin typeface="Arial"/>
              </a:rPr>
              <a:t>PS Category  —  Software</a:t>
            </a:r>
          </a:p>
          <a:p>
            <a:pPr marL="0" indent="0" algn="l">
              <a:spcBef>
                <a:spcPts val="1300"/>
              </a:spcBef>
              <a:buNone/>
            </a:pPr>
            <a:r>
              <a:rPr sz="1100" b="1" i="0">
                <a:solidFill>
                  <a:srgbClr val="365F91"/>
                </a:solidFill>
                <a:latin typeface="Arial"/>
              </a:rPr>
              <a:t>TEAM</a:t>
            </a:r>
          </a:p>
          <a:p>
            <a:pPr marL="0" indent="0" algn="l">
              <a:spcBef>
                <a:spcPts val="700"/>
              </a:spcBef>
              <a:buNone/>
            </a:pPr>
            <a:r>
              <a:rPr sz="1250" b="0" i="0">
                <a:solidFill>
                  <a:srgbClr val="333333"/>
                </a:solidFill>
                <a:latin typeface="Arial"/>
              </a:rPr>
              <a:t>Student Name (registered on portal)  —  Pranav Kumar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sz="1250" b="0" i="0">
                <a:solidFill>
                  <a:srgbClr val="333333"/>
                </a:solidFill>
                <a:latin typeface="Arial"/>
              </a:rPr>
              <a:t>Student ID  —  «fill in from portal»</a:t>
            </a:r>
          </a:p>
          <a:p>
            <a:pPr marL="0" indent="0" algn="l">
              <a:spcBef>
                <a:spcPts val="1300"/>
              </a:spcBef>
              <a:buNone/>
            </a:pPr>
            <a:r>
              <a:rPr sz="1100" b="1" i="0">
                <a:solidFill>
                  <a:srgbClr val="365F91"/>
                </a:solidFill>
                <a:latin typeface="Arial"/>
              </a:rPr>
              <a:t>IN THE REPOSITORY</a:t>
            </a:r>
          </a:p>
          <a:p>
            <a:pPr marL="0" indent="0" algn="l">
              <a:spcBef>
                <a:spcPts val="700"/>
              </a:spcBef>
              <a:buNone/>
            </a:pPr>
            <a:r>
              <a:rPr sz="1150" b="0" i="0">
                <a:solidFill>
                  <a:srgbClr val="666E7A"/>
                </a:solidFill>
                <a:latin typeface="Arial"/>
              </a:rPr>
              <a:t>Closed-loop source · baseline and runtime-generated .idf models · savings dashboard · docs/ARCHITECTURE.md · 392 passing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103120"/>
            <a:ext cx="5376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 algn="ctr">
              <a:buNone/>
            </a:pPr>
            <a:r>
              <a:rPr sz="1050" b="1" i="0">
                <a:solidFill>
                  <a:srgbClr val="365F91"/>
                </a:solidFill>
                <a:latin typeface="Arial"/>
              </a:rPr>
              <a:t>MEASURED ON REAL ENERGYPLUS — NOT PROJECTED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432304"/>
            <a:ext cx="1700784" cy="1517904"/>
          </a:xfrm>
          <a:prstGeom prst="roundRect">
            <a:avLst>
              <a:gd name="adj" fmla="val 10000"/>
            </a:avLst>
          </a:prstGeom>
          <a:solidFill>
            <a:srgbClr val="ECF2E1"/>
          </a:solidFill>
          <a:ln w="12700">
            <a:solidFill>
              <a:srgbClr val="D3DF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 marL="0" indent="0">
              <a:buNone/>
            </a:pPr>
            <a:r>
              <a:rPr sz="3000" b="1" i="0">
                <a:solidFill>
                  <a:srgbClr val="5F8A2E"/>
                </a:solidFill>
                <a:latin typeface="Arial"/>
              </a:rPr>
              <a:t>32.1%</a:t>
            </a:r>
          </a:p>
          <a:p>
            <a:pPr marL="0" indent="0" algn="ctr">
              <a:spcBef>
                <a:spcPts val="400"/>
              </a:spcBef>
              <a:buNone/>
            </a:pPr>
            <a:r>
              <a:rPr sz="1050" b="1" i="0">
                <a:solidFill>
                  <a:srgbClr val="333333"/>
                </a:solidFill>
                <a:latin typeface="Arial"/>
              </a:rPr>
              <a:t>ENERGY SAVED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sz="950" b="0" i="0">
                <a:solidFill>
                  <a:srgbClr val="666E7A"/>
                </a:solidFill>
                <a:latin typeface="Arial"/>
              </a:rPr>
              <a:t>115.5 kWh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47304" y="2432304"/>
            <a:ext cx="1700784" cy="1517904"/>
          </a:xfrm>
          <a:prstGeom prst="roundRect">
            <a:avLst>
              <a:gd name="adj" fmla="val 10000"/>
            </a:avLst>
          </a:prstGeom>
          <a:solidFill>
            <a:srgbClr val="E7EEF7"/>
          </a:solidFill>
          <a:ln w="12700">
            <a:solidFill>
              <a:srgbClr val="D3DF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 marL="0" indent="0">
              <a:buNone/>
            </a:pPr>
            <a:r>
              <a:rPr sz="3000" b="1" i="0">
                <a:solidFill>
                  <a:srgbClr val="365F91"/>
                </a:solidFill>
                <a:latin typeface="Arial"/>
              </a:rPr>
              <a:t>29.1%</a:t>
            </a:r>
          </a:p>
          <a:p>
            <a:pPr marL="0" indent="0" algn="ctr">
              <a:spcBef>
                <a:spcPts val="400"/>
              </a:spcBef>
              <a:buNone/>
            </a:pPr>
            <a:r>
              <a:rPr sz="1050" b="1" i="0">
                <a:solidFill>
                  <a:srgbClr val="333333"/>
                </a:solidFill>
                <a:latin typeface="Arial"/>
              </a:rPr>
              <a:t>PEAK CUT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sz="950" b="0" i="0">
                <a:solidFill>
                  <a:srgbClr val="666E7A"/>
                </a:solidFill>
                <a:latin typeface="Arial"/>
              </a:rPr>
              <a:t>16.2 → 11.5 kW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85248" y="2432304"/>
            <a:ext cx="1700784" cy="1517904"/>
          </a:xfrm>
          <a:prstGeom prst="roundRect">
            <a:avLst>
              <a:gd name="adj" fmla="val 10000"/>
            </a:avLst>
          </a:prstGeom>
          <a:solidFill>
            <a:srgbClr val="E7EEF7"/>
          </a:solidFill>
          <a:ln w="12700">
            <a:solidFill>
              <a:srgbClr val="D3DF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 marL="0" indent="0">
              <a:buNone/>
            </a:pPr>
            <a:r>
              <a:rPr sz="3000" b="1" i="0">
                <a:solidFill>
                  <a:srgbClr val="1F497D"/>
                </a:solidFill>
                <a:latin typeface="Arial"/>
              </a:rPr>
              <a:t>79 → 0</a:t>
            </a:r>
          </a:p>
          <a:p>
            <a:pPr marL="0" indent="0" algn="ctr">
              <a:spcBef>
                <a:spcPts val="400"/>
              </a:spcBef>
              <a:buNone/>
            </a:pPr>
            <a:r>
              <a:rPr sz="1050" b="1" i="0">
                <a:solidFill>
                  <a:srgbClr val="333333"/>
                </a:solidFill>
                <a:latin typeface="Arial"/>
              </a:rPr>
              <a:t>COMFORT VIOLATIONS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sz="950" b="0" i="0">
                <a:solidFill>
                  <a:srgbClr val="666E7A"/>
                </a:solidFill>
                <a:latin typeface="Arial"/>
              </a:rPr>
              <a:t>of 80 occupied steps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059936"/>
            <a:ext cx="5376672" cy="384048"/>
          </a:xfrm>
          <a:prstGeom prst="roundRect">
            <a:avLst>
              <a:gd name="adj" fmla="val 40000"/>
            </a:avLst>
          </a:prstGeom>
          <a:solidFill>
            <a:srgbClr val="5F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 marL="0" indent="0">
              <a:buNone/>
            </a:pPr>
            <a:r>
              <a:rPr sz="1150" b="1" i="0">
                <a:solidFill>
                  <a:srgbClr val="FFFFFF"/>
                </a:solidFill>
                <a:latin typeface="Arial"/>
              </a:rPr>
              <a:t>✓   COMFORT MAINTAINED   ·   ASHRAE-55 PMV BAND HELD ALL 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553712"/>
            <a:ext cx="5376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 algn="ctr">
              <a:buNone/>
            </a:pPr>
            <a:r>
              <a:rPr sz="1100" b="1" i="0">
                <a:solidFill>
                  <a:srgbClr val="333333"/>
                </a:solidFill>
                <a:latin typeface="Arial"/>
              </a:rPr>
              <a:t>EnergyPlus 26.1  ·  summer week  ·  192 timesteps of 15 min</a:t>
            </a:r>
          </a:p>
          <a:p>
            <a:pPr marL="0" indent="0" algn="ctr">
              <a:spcBef>
                <a:spcPts val="400"/>
              </a:spcBef>
              <a:buNone/>
            </a:pPr>
            <a:r>
              <a:rPr sz="1000" b="0" i="0">
                <a:solidFill>
                  <a:srgbClr val="666E7A"/>
                </a:solidFill>
                <a:latin typeface="Arial"/>
              </a:rPr>
              <a:t>Agent run and fixed-schedule baseline execute the identical code path, weather and occupancy — a controlled experiment, reproducible from two CLI commands.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5147" y="5596128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 marL="0" indent="0">
              <a:buNone/>
            </a:pPr>
            <a:r>
              <a:rPr sz="1050" b="1" i="0">
                <a:solidFill>
                  <a:srgbClr val="365F91"/>
                </a:solidFill>
                <a:latin typeface="Arial"/>
              </a:rPr>
              <a:t>EnergyPlus 26.1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78811" y="5596128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 marL="0" indent="0">
              <a:buNone/>
            </a:pPr>
            <a:r>
              <a:rPr sz="1050" b="1" i="0">
                <a:solidFill>
                  <a:srgbClr val="365F91"/>
                </a:solidFill>
                <a:latin typeface="Arial"/>
              </a:rPr>
              <a:t>Llama 3.3 70B via Groq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62475" y="5596128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 marL="0" indent="0">
              <a:buNone/>
            </a:pPr>
            <a:r>
              <a:rPr sz="1050" b="1" i="0">
                <a:solidFill>
                  <a:srgbClr val="365F91"/>
                </a:solidFill>
                <a:latin typeface="Arial"/>
              </a:rPr>
              <a:t>MCP server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6139" y="5596128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 marL="0" indent="0">
              <a:buNone/>
            </a:pPr>
            <a:r>
              <a:rPr sz="1050" b="1" i="0">
                <a:solidFill>
                  <a:srgbClr val="365F91"/>
                </a:solidFill>
                <a:latin typeface="Arial"/>
              </a:rPr>
              <a:t>FastAPI + SSE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29803" y="5596128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 marL="0" indent="0">
              <a:buNone/>
            </a:pPr>
            <a:r>
              <a:rPr sz="1050" b="1" i="0">
                <a:solidFill>
                  <a:srgbClr val="365F91"/>
                </a:solidFill>
                <a:latin typeface="Arial"/>
              </a:rPr>
              <a:t>React + Recharts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13467" y="5596128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 marL="0" indent="0">
              <a:buNone/>
            </a:pPr>
            <a:r>
              <a:rPr sz="1050" b="1" i="0">
                <a:solidFill>
                  <a:srgbClr val="365F91"/>
                </a:solidFill>
                <a:latin typeface="Arial"/>
              </a:rPr>
              <a:t>392 tests passing</a:t>
            </a: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ECO-LOOP BUILDING AGENTS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502920" y="932688"/>
            <a:ext cx="11185855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0" indent="0" algn="ctr">
              <a:buNone/>
            </a:pPr>
            <a:r>
              <a:rPr sz="1450" b="1" i="1">
                <a:solidFill>
                  <a:srgbClr val="365F91"/>
                </a:solidFill>
                <a:latin typeface="Arial"/>
              </a:rPr>
              <a:t>Buildings waste energy because their controls cannot think. Ours reasons — every fifteen minutes.</a:t>
            </a:r>
            <a:endParaRPr lang="en-US" sz="3200" u="sng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5363" name="Rounded Rectangle 15362"/>
          <p:cNvSpPr/>
          <p:nvPr/>
        </p:nvSpPr>
        <p:spPr>
          <a:xfrm>
            <a:off x="502920" y="1444752"/>
            <a:ext cx="4846320" cy="3822191"/>
          </a:xfrm>
          <a:prstGeom prst="roundRect">
            <a:avLst>
              <a:gd name="adj" fmla="val 10000"/>
            </a:avLst>
          </a:prstGeom>
          <a:solidFill>
            <a:srgbClr val="F7E9E8"/>
          </a:solidFill>
          <a:ln w="12700">
            <a:solidFill>
              <a:srgbClr val="E6C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91440"/>
          <a:lstStyle/>
          <a:p>
            <a:pPr algn="l" marL="0" indent="0">
              <a:buNone/>
            </a:pPr>
            <a:r>
              <a:rPr sz="1500" b="1" i="0">
                <a:solidFill>
                  <a:srgbClr val="C0504D"/>
                </a:solidFill>
                <a:latin typeface="Arial"/>
              </a:rPr>
              <a:t>THE PROBLEM</a:t>
            </a:r>
          </a:p>
        </p:txBody>
      </p:sp>
      <p:sp>
        <p:nvSpPr>
          <p:cNvPr id="15364" name="Oval 15363"/>
          <p:cNvSpPr/>
          <p:nvPr/>
        </p:nvSpPr>
        <p:spPr>
          <a:xfrm>
            <a:off x="667512" y="1920240"/>
            <a:ext cx="256032" cy="256032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1014984" y="1883664"/>
            <a:ext cx="4160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 algn="l">
              <a:buNone/>
            </a:pPr>
            <a:r>
              <a:rPr sz="1250" b="1" i="0">
                <a:solidFill>
                  <a:srgbClr val="333333"/>
                </a:solidFill>
                <a:latin typeface="Arial"/>
              </a:rPr>
              <a:t>Buildings burn ~40% of global energy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sz="1100" b="0" i="0">
                <a:solidFill>
                  <a:srgbClr val="666E7A"/>
                </a:solidFill>
                <a:latin typeface="Arial"/>
              </a:rPr>
              <a:t>and remain a primary driver of carbon emissions.</a:t>
            </a:r>
          </a:p>
        </p:txBody>
      </p:sp>
      <p:sp>
        <p:nvSpPr>
          <p:cNvPr id="15366" name="Oval 15365"/>
          <p:cNvSpPr/>
          <p:nvPr/>
        </p:nvSpPr>
        <p:spPr>
          <a:xfrm>
            <a:off x="667512" y="2651760"/>
            <a:ext cx="256032" cy="256032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1014984" y="2615184"/>
            <a:ext cx="4160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 algn="l">
              <a:buNone/>
            </a:pPr>
            <a:r>
              <a:rPr sz="1250" b="1" i="0">
                <a:solidFill>
                  <a:srgbClr val="333333"/>
                </a:solidFill>
                <a:latin typeface="Arial"/>
              </a:rPr>
              <a:t>Building management systems run fixed schedules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sz="1100" b="0" i="0">
                <a:solidFill>
                  <a:srgbClr val="666E7A"/>
                </a:solidFill>
                <a:latin typeface="Arial"/>
              </a:rPr>
              <a:t>blind to weather, occupancy and grid carbon intensity.</a:t>
            </a:r>
          </a:p>
        </p:txBody>
      </p:sp>
      <p:sp>
        <p:nvSpPr>
          <p:cNvPr id="15368" name="Oval 15367"/>
          <p:cNvSpPr/>
          <p:nvPr/>
        </p:nvSpPr>
        <p:spPr>
          <a:xfrm>
            <a:off x="667512" y="3383280"/>
            <a:ext cx="256032" cy="256032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1014984" y="3346704"/>
            <a:ext cx="4160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 algn="l">
              <a:buNone/>
            </a:pPr>
            <a:r>
              <a:rPr sz="1250" b="1" i="0">
                <a:solidFill>
                  <a:srgbClr val="333333"/>
                </a:solidFill>
                <a:latin typeface="Arial"/>
              </a:rPr>
              <a:t>Control is reactive, not anticipatory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sz="1100" b="0" i="0">
                <a:solidFill>
                  <a:srgbClr val="666E7A"/>
                </a:solidFill>
                <a:latin typeface="Arial"/>
              </a:rPr>
              <a:t>comfort is corrected only after occupants have complained.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667512" y="4206240"/>
            <a:ext cx="451713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 marL="0" indent="0">
              <a:buNone/>
            </a:pPr>
            <a:r>
              <a:rPr sz="2400" b="1" i="0">
                <a:solidFill>
                  <a:srgbClr val="C0504D"/>
                </a:solidFill>
                <a:latin typeface="Arial"/>
              </a:rPr>
              <a:t>79 of 80</a:t>
            </a:r>
          </a:p>
          <a:p>
            <a:pPr marL="0" indent="0" algn="ctr">
              <a:spcBef>
                <a:spcPts val="300"/>
              </a:spcBef>
              <a:buNone/>
            </a:pPr>
            <a:r>
              <a:rPr sz="1050" b="0" i="0">
                <a:solidFill>
                  <a:srgbClr val="333333"/>
                </a:solidFill>
                <a:latin typeface="Arial"/>
              </a:rPr>
              <a:t>occupied timesteps outside the comfort band — measured on the fixed-schedule baseline in EnergyPlus.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5623560" y="1444752"/>
            <a:ext cx="6062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 algn="l">
              <a:buNone/>
            </a:pPr>
            <a:r>
              <a:rPr sz="1500" b="1" i="0">
                <a:solidFill>
                  <a:srgbClr val="1F497D"/>
                </a:solidFill>
                <a:latin typeface="Arial"/>
              </a:rPr>
              <a:t>OUR SOLUTION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5623560" y="1828800"/>
            <a:ext cx="6062472" cy="621792"/>
          </a:xfrm>
          <a:prstGeom prst="roundRect">
            <a:avLst>
              <a:gd name="adj" fmla="val 10000"/>
            </a:avLst>
          </a:prstGeom>
          <a:solidFill>
            <a:srgbClr val="E7EEF7"/>
          </a:solidFill>
          <a:ln w="12700">
            <a:solidFill>
              <a:srgbClr val="D3DF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5373" name="Oval 15372"/>
          <p:cNvSpPr/>
          <p:nvPr/>
        </p:nvSpPr>
        <p:spPr>
          <a:xfrm>
            <a:off x="5760720" y="2002536"/>
            <a:ext cx="274320" cy="274320"/>
          </a:xfrm>
          <a:prstGeom prst="ellipse">
            <a:avLst/>
          </a:prstGeom>
          <a:solidFill>
            <a:srgbClr val="5F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6144768" y="1911095"/>
            <a:ext cx="543153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 algn="l">
              <a:buNone/>
            </a:pPr>
            <a:r>
              <a:rPr sz="1200" b="1" i="0">
                <a:solidFill>
                  <a:srgbClr val="1F497D"/>
                </a:solidFill>
                <a:latin typeface="Arial"/>
              </a:rPr>
              <a:t>AI SUPERVISOR</a:t>
            </a:r>
          </a:p>
          <a:p>
            <a:pPr marL="0" indent="0" algn="l">
              <a:spcBef>
                <a:spcPts val="100"/>
              </a:spcBef>
              <a:buNone/>
            </a:pPr>
            <a:r>
              <a:rPr sz="1050" b="0" i="0">
                <a:solidFill>
                  <a:srgbClr val="666E7A"/>
                </a:solidFill>
                <a:latin typeface="Arial"/>
              </a:rPr>
              <a:t>Llama 3.3 70B reads live telemetry and sets the control policy.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5623560" y="2523744"/>
            <a:ext cx="6062472" cy="621792"/>
          </a:xfrm>
          <a:prstGeom prst="roundRect">
            <a:avLst>
              <a:gd name="adj" fmla="val 10000"/>
            </a:avLst>
          </a:prstGeom>
          <a:solidFill>
            <a:srgbClr val="E7EEF7"/>
          </a:solidFill>
          <a:ln w="12700">
            <a:solidFill>
              <a:srgbClr val="D3DF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5376" name="Oval 15375"/>
          <p:cNvSpPr/>
          <p:nvPr/>
        </p:nvSpPr>
        <p:spPr>
          <a:xfrm>
            <a:off x="5760720" y="2697479"/>
            <a:ext cx="274320" cy="274320"/>
          </a:xfrm>
          <a:prstGeom prst="ellipse">
            <a:avLst/>
          </a:prstGeom>
          <a:solidFill>
            <a:srgbClr val="5F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6144768" y="2606039"/>
            <a:ext cx="543153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 algn="l">
              <a:buNone/>
            </a:pPr>
            <a:r>
              <a:rPr sz="1200" b="1" i="0">
                <a:solidFill>
                  <a:srgbClr val="1F497D"/>
                </a:solidFill>
                <a:latin typeface="Arial"/>
              </a:rPr>
              <a:t>ENERGYPLUS DIGITAL TWIN</a:t>
            </a:r>
          </a:p>
          <a:p>
            <a:pPr marL="0" indent="0" algn="l">
              <a:spcBef>
                <a:spcPts val="100"/>
              </a:spcBef>
              <a:buNone/>
            </a:pPr>
            <a:r>
              <a:rPr sz="1050" b="0" i="0">
                <a:solidFill>
                  <a:srgbClr val="666E7A"/>
                </a:solidFill>
                <a:latin typeface="Arial"/>
              </a:rPr>
              <a:t>Set-points injected into the running instance — no restart, no file rewrite.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5623560" y="3218687"/>
            <a:ext cx="6062472" cy="621792"/>
          </a:xfrm>
          <a:prstGeom prst="roundRect">
            <a:avLst>
              <a:gd name="adj" fmla="val 10000"/>
            </a:avLst>
          </a:prstGeom>
          <a:solidFill>
            <a:srgbClr val="E7EEF7"/>
          </a:solidFill>
          <a:ln w="12700">
            <a:solidFill>
              <a:srgbClr val="D3DF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5379" name="Oval 15378"/>
          <p:cNvSpPr/>
          <p:nvPr/>
        </p:nvSpPr>
        <p:spPr>
          <a:xfrm>
            <a:off x="5760720" y="3392423"/>
            <a:ext cx="274320" cy="274320"/>
          </a:xfrm>
          <a:prstGeom prst="ellipse">
            <a:avLst/>
          </a:prstGeom>
          <a:solidFill>
            <a:srgbClr val="5F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6144768" y="3300983"/>
            <a:ext cx="543153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 algn="l">
              <a:buNone/>
            </a:pPr>
            <a:r>
              <a:rPr sz="1200" b="1" i="0">
                <a:solidFill>
                  <a:srgbClr val="1F497D"/>
                </a:solidFill>
                <a:latin typeface="Arial"/>
              </a:rPr>
              <a:t>REACTIVE SAFETY GUARD</a:t>
            </a:r>
          </a:p>
          <a:p>
            <a:pPr marL="0" indent="0" algn="l">
              <a:spcBef>
                <a:spcPts val="100"/>
              </a:spcBef>
              <a:buNone/>
            </a:pPr>
            <a:r>
              <a:rPr sz="1050" b="0" i="0">
                <a:solidFill>
                  <a:srgbClr val="666E7A"/>
                </a:solidFill>
                <a:latin typeface="Arial"/>
              </a:rPr>
              <a:t>Every action clamped in code to hard comfort and equipment limits.</a:t>
            </a:r>
          </a:p>
        </p:txBody>
      </p:sp>
      <p:sp>
        <p:nvSpPr>
          <p:cNvPr id="15381" name="Rounded Rectangle 15380"/>
          <p:cNvSpPr/>
          <p:nvPr/>
        </p:nvSpPr>
        <p:spPr>
          <a:xfrm>
            <a:off x="5623560" y="3913631"/>
            <a:ext cx="6062472" cy="621792"/>
          </a:xfrm>
          <a:prstGeom prst="roundRect">
            <a:avLst>
              <a:gd name="adj" fmla="val 10000"/>
            </a:avLst>
          </a:prstGeom>
          <a:solidFill>
            <a:srgbClr val="E7EEF7"/>
          </a:solidFill>
          <a:ln w="12700">
            <a:solidFill>
              <a:srgbClr val="D3DF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5382" name="Oval 15381"/>
          <p:cNvSpPr/>
          <p:nvPr/>
        </p:nvSpPr>
        <p:spPr>
          <a:xfrm>
            <a:off x="5760720" y="4087368"/>
            <a:ext cx="274320" cy="274320"/>
          </a:xfrm>
          <a:prstGeom prst="ellipse">
            <a:avLst/>
          </a:prstGeom>
          <a:solidFill>
            <a:srgbClr val="5F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383" name="TextBox 15382"/>
          <p:cNvSpPr txBox="1"/>
          <p:nvPr/>
        </p:nvSpPr>
        <p:spPr>
          <a:xfrm>
            <a:off x="6144768" y="3995927"/>
            <a:ext cx="543153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 algn="l">
              <a:buNone/>
            </a:pPr>
            <a:r>
              <a:rPr sz="1200" b="1" i="0">
                <a:solidFill>
                  <a:srgbClr val="1F497D"/>
                </a:solidFill>
                <a:latin typeface="Arial"/>
              </a:rPr>
              <a:t>MCP TOOL LAYER</a:t>
            </a:r>
          </a:p>
          <a:p>
            <a:pPr marL="0" indent="0" algn="l">
              <a:spcBef>
                <a:spcPts val="100"/>
              </a:spcBef>
              <a:buNone/>
            </a:pPr>
            <a:r>
              <a:rPr sz="1050" b="0" i="0">
                <a:solidFill>
                  <a:srgbClr val="666E7A"/>
                </a:solidFill>
                <a:latin typeface="Arial"/>
              </a:rPr>
              <a:t>The same six tools serve the agent and any external MCP client.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5623560" y="4608575"/>
            <a:ext cx="6062472" cy="621792"/>
          </a:xfrm>
          <a:prstGeom prst="roundRect">
            <a:avLst>
              <a:gd name="adj" fmla="val 10000"/>
            </a:avLst>
          </a:prstGeom>
          <a:solidFill>
            <a:srgbClr val="E7EEF7"/>
          </a:solidFill>
          <a:ln w="12700">
            <a:solidFill>
              <a:srgbClr val="D3DF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5385" name="Oval 15384"/>
          <p:cNvSpPr/>
          <p:nvPr/>
        </p:nvSpPr>
        <p:spPr>
          <a:xfrm>
            <a:off x="5760720" y="4782312"/>
            <a:ext cx="274320" cy="274320"/>
          </a:xfrm>
          <a:prstGeom prst="ellipse">
            <a:avLst/>
          </a:prstGeom>
          <a:solidFill>
            <a:srgbClr val="5F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386" name="TextBox 15385"/>
          <p:cNvSpPr txBox="1"/>
          <p:nvPr/>
        </p:nvSpPr>
        <p:spPr>
          <a:xfrm>
            <a:off x="6144768" y="4690871"/>
            <a:ext cx="543153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 algn="l">
              <a:buNone/>
            </a:pPr>
            <a:r>
              <a:rPr sz="1200" b="1" i="0">
                <a:solidFill>
                  <a:srgbClr val="1F497D"/>
                </a:solidFill>
                <a:latin typeface="Arial"/>
              </a:rPr>
              <a:t>LIVE SAVINGS DASHBOARD</a:t>
            </a:r>
          </a:p>
          <a:p>
            <a:pPr marL="0" indent="0" algn="l">
              <a:spcBef>
                <a:spcPts val="100"/>
              </a:spcBef>
              <a:buNone/>
            </a:pPr>
            <a:r>
              <a:rPr sz="1050" b="0" i="0">
                <a:solidFill>
                  <a:srgbClr val="666E7A"/>
                </a:solidFill>
                <a:latin typeface="Arial"/>
              </a:rPr>
              <a:t>Eight panels streaming telemetry, reasoning and kWh saved.</a:t>
            </a:r>
          </a:p>
        </p:txBody>
      </p:sp>
      <p:sp>
        <p:nvSpPr>
          <p:cNvPr id="15387" name="Rounded Rectangle 15386"/>
          <p:cNvSpPr/>
          <p:nvPr/>
        </p:nvSpPr>
        <p:spPr>
          <a:xfrm>
            <a:off x="502920" y="5431536"/>
            <a:ext cx="11185855" cy="566928"/>
          </a:xfrm>
          <a:prstGeom prst="roundRect">
            <a:avLst>
              <a:gd name="adj" fmla="val 22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WHAT MAKES IT DIFFERENT   ·   baseline and agent run the identical code path, weather and occupancy — so the saving is a controlled experiment, not a demo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932688"/>
            <a:ext cx="11185855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sz="1450" b="1" i="1">
                <a:solidFill>
                  <a:srgbClr val="365F91"/>
                </a:solidFill>
                <a:latin typeface="Arial"/>
              </a:rPr>
              <a:t>One closed loop: sense → reason → clamp → actuate, inside the running simulation.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02920" y="1426464"/>
            <a:ext cx="1984248" cy="17190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502920" y="1426464"/>
            <a:ext cx="1984248" cy="475488"/>
          </a:xfrm>
          <a:prstGeom prst="roundRect">
            <a:avLst>
              <a:gd name="adj" fmla="val 2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 marL="0" indent="0">
              <a:buNone/>
            </a:pPr>
            <a:r>
              <a:rPr sz="1050" b="1" i="0">
                <a:solidFill>
                  <a:srgbClr val="FFFFFF"/>
                </a:solidFill>
                <a:latin typeface="Arial"/>
              </a:rPr>
              <a:t>ENERGYPLUS DIGITAL TWIN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76072" y="1993392"/>
            <a:ext cx="1837943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 algn="ctr">
              <a:spcBef>
                <a:spcPts val="200"/>
              </a:spcBef>
              <a:buNone/>
            </a:pPr>
            <a:r>
              <a:rPr sz="950" b="0" i="0">
                <a:solidFill>
                  <a:srgbClr val="333333"/>
                </a:solidFill>
                <a:latin typeface="Arial"/>
              </a:rPr>
              <a:t>small_office.idf · EPW weather</a:t>
            </a:r>
          </a:p>
          <a:p>
            <a:pPr marL="0" indent="0" algn="ctr">
              <a:spcBef>
                <a:spcPts val="500"/>
              </a:spcBef>
              <a:buNone/>
            </a:pPr>
            <a:r>
              <a:rPr sz="850" b="0" i="1">
                <a:solidFill>
                  <a:srgbClr val="666E7A"/>
                </a:solidFill>
                <a:latin typeface="Arial"/>
              </a:rPr>
              <a:t>pyenergyplus runtime API</a:t>
            </a:r>
          </a:p>
        </p:txBody>
      </p:sp>
      <p:sp>
        <p:nvSpPr>
          <p:cNvPr id="17414" name="Right Arrow 17413"/>
          <p:cNvSpPr/>
          <p:nvPr/>
        </p:nvSpPr>
        <p:spPr>
          <a:xfrm>
            <a:off x="2537460" y="2148840"/>
            <a:ext cx="196596" cy="274320"/>
          </a:xfrm>
          <a:prstGeom prst="rightArrow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2784348" y="1426464"/>
            <a:ext cx="1984248" cy="17190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365F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7416" name="Rounded Rectangle 17415"/>
          <p:cNvSpPr/>
          <p:nvPr/>
        </p:nvSpPr>
        <p:spPr>
          <a:xfrm>
            <a:off x="2784348" y="1426464"/>
            <a:ext cx="1984248" cy="475488"/>
          </a:xfrm>
          <a:prstGeom prst="roundRect">
            <a:avLst>
              <a:gd name="adj" fmla="val 20000"/>
            </a:avLst>
          </a:prstGeom>
          <a:solidFill>
            <a:srgbClr val="365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 marL="0" indent="0">
              <a:buNone/>
            </a:pPr>
            <a:r>
              <a:rPr sz="1050" b="1" i="0">
                <a:solidFill>
                  <a:srgbClr val="FFFFFF"/>
                </a:solidFill>
                <a:latin typeface="Arial"/>
              </a:rPr>
              <a:t>SENSOR TELEMETRY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2857500" y="1993392"/>
            <a:ext cx="1837943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 algn="ctr">
              <a:spcBef>
                <a:spcPts val="200"/>
              </a:spcBef>
              <a:buNone/>
            </a:pPr>
            <a:r>
              <a:rPr sz="950" b="0" i="0">
                <a:solidFill>
                  <a:srgbClr val="333333"/>
                </a:solidFill>
                <a:latin typeface="Arial"/>
              </a:rPr>
              <a:t>zone temp · outdoor · occupancy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sz="950" b="0" i="0">
                <a:solidFill>
                  <a:srgbClr val="333333"/>
                </a:solidFill>
                <a:latin typeface="Arial"/>
              </a:rPr>
              <a:t>CO₂ · power · PMV</a:t>
            </a:r>
          </a:p>
          <a:p>
            <a:pPr marL="0" indent="0" algn="ctr">
              <a:spcBef>
                <a:spcPts val="500"/>
              </a:spcBef>
              <a:buNone/>
            </a:pPr>
            <a:r>
              <a:rPr sz="850" b="0" i="1">
                <a:solidFill>
                  <a:srgbClr val="666E7A"/>
                </a:solidFill>
                <a:latin typeface="Arial"/>
              </a:rPr>
              <a:t>every 15-min timestep</a:t>
            </a:r>
          </a:p>
        </p:txBody>
      </p:sp>
      <p:sp>
        <p:nvSpPr>
          <p:cNvPr id="17418" name="Right Arrow 17417"/>
          <p:cNvSpPr/>
          <p:nvPr/>
        </p:nvSpPr>
        <p:spPr>
          <a:xfrm>
            <a:off x="4818888" y="2148840"/>
            <a:ext cx="196596" cy="274320"/>
          </a:xfrm>
          <a:prstGeom prst="rightArrow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5065776" y="1426464"/>
            <a:ext cx="1984248" cy="17190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5065776" y="1426464"/>
            <a:ext cx="1984248" cy="475488"/>
          </a:xfrm>
          <a:prstGeom prst="roundRect">
            <a:avLst>
              <a:gd name="adj" fmla="val 20000"/>
            </a:avLst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 marL="0" indent="0">
              <a:buNone/>
            </a:pPr>
            <a:r>
              <a:rPr sz="1050" b="1" i="0">
                <a:solidFill>
                  <a:srgbClr val="FFFFFF"/>
                </a:solidFill>
                <a:latin typeface="Arial"/>
              </a:rPr>
              <a:t>LLM SUPERVISOR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5138928" y="1993392"/>
            <a:ext cx="1837943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 algn="ctr">
              <a:spcBef>
                <a:spcPts val="200"/>
              </a:spcBef>
              <a:buNone/>
            </a:pPr>
            <a:r>
              <a:rPr sz="950" b="0" i="0">
                <a:solidFill>
                  <a:srgbClr val="333333"/>
                </a:solidFill>
                <a:latin typeface="Arial"/>
              </a:rPr>
              <a:t>llama-3.3-70b via Groq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sz="950" b="0" i="0">
                <a:solidFill>
                  <a:srgbClr val="333333"/>
                </a:solidFill>
                <a:latin typeface="Arial"/>
              </a:rPr>
              <a:t>6 JSON-schema tools</a:t>
            </a:r>
          </a:p>
          <a:p>
            <a:pPr marL="0" indent="0" algn="ctr">
              <a:spcBef>
                <a:spcPts val="500"/>
              </a:spcBef>
              <a:buNone/>
            </a:pPr>
            <a:r>
              <a:rPr sz="850" b="0" i="1">
                <a:solidFill>
                  <a:srgbClr val="666E7A"/>
                </a:solidFill>
                <a:latin typeface="Arial"/>
              </a:rPr>
              <a:t>on cadence · ~0.8 s</a:t>
            </a:r>
          </a:p>
        </p:txBody>
      </p:sp>
      <p:sp>
        <p:nvSpPr>
          <p:cNvPr id="17422" name="Right Arrow 17421"/>
          <p:cNvSpPr/>
          <p:nvPr/>
        </p:nvSpPr>
        <p:spPr>
          <a:xfrm>
            <a:off x="7100316" y="2148840"/>
            <a:ext cx="196596" cy="274320"/>
          </a:xfrm>
          <a:prstGeom prst="rightArrow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7423" name="Rounded Rectangle 17422"/>
          <p:cNvSpPr/>
          <p:nvPr/>
        </p:nvSpPr>
        <p:spPr>
          <a:xfrm>
            <a:off x="7347204" y="1426464"/>
            <a:ext cx="1984248" cy="17190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5F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7424" name="Rounded Rectangle 17423"/>
          <p:cNvSpPr/>
          <p:nvPr/>
        </p:nvSpPr>
        <p:spPr>
          <a:xfrm>
            <a:off x="7347204" y="1426464"/>
            <a:ext cx="1984248" cy="475488"/>
          </a:xfrm>
          <a:prstGeom prst="roundRect">
            <a:avLst>
              <a:gd name="adj" fmla="val 20000"/>
            </a:avLst>
          </a:prstGeom>
          <a:solidFill>
            <a:srgbClr val="5F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 marL="0" indent="0">
              <a:buNone/>
            </a:pPr>
            <a:r>
              <a:rPr sz="1050" b="1" i="0">
                <a:solidFill>
                  <a:srgbClr val="FFFFFF"/>
                </a:solidFill>
                <a:latin typeface="Arial"/>
              </a:rPr>
              <a:t>REACTIVE GUARD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7420356" y="1993392"/>
            <a:ext cx="1837943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 algn="ctr">
              <a:spcBef>
                <a:spcPts val="200"/>
              </a:spcBef>
              <a:buNone/>
            </a:pPr>
            <a:r>
              <a:rPr sz="950" b="0" i="0">
                <a:solidFill>
                  <a:srgbClr val="333333"/>
                </a:solidFill>
                <a:latin typeface="Arial"/>
              </a:rPr>
              <a:t>clamps to hard comfort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sz="950" b="0" i="0">
                <a:solidFill>
                  <a:srgbClr val="333333"/>
                </a:solidFill>
                <a:latin typeface="Arial"/>
              </a:rPr>
              <a:t>and equipment limits</a:t>
            </a:r>
          </a:p>
          <a:p>
            <a:pPr marL="0" indent="0" algn="ctr">
              <a:spcBef>
                <a:spcPts val="500"/>
              </a:spcBef>
              <a:buNone/>
            </a:pPr>
            <a:r>
              <a:rPr sz="850" b="0" i="1">
                <a:solidFill>
                  <a:srgbClr val="666E7A"/>
                </a:solidFill>
                <a:latin typeface="Arial"/>
              </a:rPr>
              <a:t>every step · microseconds</a:t>
            </a:r>
          </a:p>
        </p:txBody>
      </p:sp>
      <p:sp>
        <p:nvSpPr>
          <p:cNvPr id="17426" name="Right Arrow 17425"/>
          <p:cNvSpPr/>
          <p:nvPr/>
        </p:nvSpPr>
        <p:spPr>
          <a:xfrm>
            <a:off x="9381744" y="2148840"/>
            <a:ext cx="196596" cy="274320"/>
          </a:xfrm>
          <a:prstGeom prst="rightArrow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7427" name="Rounded Rectangle 17426"/>
          <p:cNvSpPr/>
          <p:nvPr/>
        </p:nvSpPr>
        <p:spPr>
          <a:xfrm>
            <a:off x="9628632" y="1426464"/>
            <a:ext cx="1984248" cy="17190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E37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7428" name="Rounded Rectangle 17427"/>
          <p:cNvSpPr/>
          <p:nvPr/>
        </p:nvSpPr>
        <p:spPr>
          <a:xfrm>
            <a:off x="9628632" y="1426464"/>
            <a:ext cx="1984248" cy="475488"/>
          </a:xfrm>
          <a:prstGeom prst="roundRect">
            <a:avLst>
              <a:gd name="adj" fmla="val 20000"/>
            </a:avLst>
          </a:prstGeom>
          <a:solidFill>
            <a:srgbClr val="E37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 marL="0" indent="0">
              <a:buNone/>
            </a:pPr>
            <a:r>
              <a:rPr sz="1050" b="1" i="0">
                <a:solidFill>
                  <a:srgbClr val="FFFFFF"/>
                </a:solidFill>
                <a:latin typeface="Arial"/>
              </a:rPr>
              <a:t>FORWARD INJECTION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9701784" y="1993392"/>
            <a:ext cx="1837943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marL="0" indent="0" algn="ctr">
              <a:spcBef>
                <a:spcPts val="200"/>
              </a:spcBef>
              <a:buNone/>
            </a:pPr>
            <a:r>
              <a:rPr sz="950" b="0" i="0">
                <a:solidFill>
                  <a:srgbClr val="333333"/>
                </a:solidFill>
                <a:latin typeface="Arial"/>
              </a:rPr>
              <a:t>set-points written to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sz="950" b="0" i="0">
                <a:solidFill>
                  <a:srgbClr val="333333"/>
                </a:solidFill>
                <a:latin typeface="Arial"/>
              </a:rPr>
              <a:t>EnergyPlus actuators</a:t>
            </a:r>
          </a:p>
          <a:p>
            <a:pPr marL="0" indent="0" algn="ctr">
              <a:spcBef>
                <a:spcPts val="500"/>
              </a:spcBef>
              <a:buNone/>
            </a:pPr>
            <a:r>
              <a:rPr sz="850" b="0" i="1">
                <a:solidFill>
                  <a:srgbClr val="666E7A"/>
                </a:solidFill>
                <a:latin typeface="Arial"/>
              </a:rPr>
              <a:t>live instance · no restart</a:t>
            </a:r>
          </a:p>
        </p:txBody>
      </p:sp>
      <p:sp>
        <p:nvSpPr>
          <p:cNvPr id="17430" name="Left Arrow 17429"/>
          <p:cNvSpPr/>
          <p:nvPr/>
        </p:nvSpPr>
        <p:spPr>
          <a:xfrm>
            <a:off x="502920" y="3255264"/>
            <a:ext cx="11185855" cy="493776"/>
          </a:xfrm>
          <a:prstGeom prst="leftArrow">
            <a:avLst/>
          </a:prstGeom>
          <a:solidFill>
            <a:srgbClr val="E7EEF7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 marL="0" indent="0">
              <a:buNone/>
            </a:pPr>
            <a:r>
              <a:rPr sz="1100" b="1" i="0">
                <a:solidFill>
                  <a:srgbClr val="1F497D"/>
                </a:solidFill>
                <a:latin typeface="Arial"/>
              </a:rPr>
              <a:t>CLOSED LOOP  —  the next timestep's telemetry already reflects the action just written.  35,040 steps (a full simulated year) completed end to end.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502920" y="3895344"/>
            <a:ext cx="3602736" cy="1298448"/>
          </a:xfrm>
          <a:prstGeom prst="roundRect">
            <a:avLst>
              <a:gd name="adj" fmla="val 10000"/>
            </a:avLst>
          </a:prstGeom>
          <a:solidFill>
            <a:srgbClr val="E7EEF7"/>
          </a:solidFill>
          <a:ln w="12700">
            <a:solidFill>
              <a:srgbClr val="D3DF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91440"/>
          <a:lstStyle/>
          <a:p>
            <a:pPr algn="l" marL="0" indent="0">
              <a:buNone/>
            </a:pPr>
            <a:r>
              <a:rPr sz="1150" b="1" i="0">
                <a:solidFill>
                  <a:srgbClr val="1F497D"/>
                </a:solidFill>
                <a:latin typeface="Arial"/>
              </a:rPr>
              <a:t>EVIDENCE STORE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sz="1000" b="0" i="0">
                <a:solidFill>
                  <a:srgbClr val="666E7A"/>
                </a:solidFill>
                <a:latin typeface="Arial"/>
              </a:rPr>
              <a:t>SQLite: runs · timesteps · decisions. 39,690 telemetry rows and 5,021 decisions persisted, with rationale, latency and guard overrides.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4311396" y="3895344"/>
            <a:ext cx="3602736" cy="1298448"/>
          </a:xfrm>
          <a:prstGeom prst="roundRect">
            <a:avLst>
              <a:gd name="adj" fmla="val 10000"/>
            </a:avLst>
          </a:prstGeom>
          <a:solidFill>
            <a:srgbClr val="E7EEF7"/>
          </a:solidFill>
          <a:ln w="12700">
            <a:solidFill>
              <a:srgbClr val="D3DF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91440"/>
          <a:lstStyle/>
          <a:p>
            <a:pPr algn="l" marL="0" indent="0">
              <a:buNone/>
            </a:pPr>
            <a:r>
              <a:rPr sz="1150" b="1" i="0">
                <a:solidFill>
                  <a:srgbClr val="1F497D"/>
                </a:solidFill>
                <a:latin typeface="Arial"/>
              </a:rPr>
              <a:t>API LAYER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sz="1000" b="0" i="0">
                <a:solidFill>
                  <a:srgbClr val="666E7A"/>
                </a:solidFill>
                <a:latin typeface="Arial"/>
              </a:rPr>
              <a:t>FastAPI — 14 REST endpoints plus a Server-Sent Events stream and per-run CSV export. The dashboard is a pure reader.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8119871" y="3895344"/>
            <a:ext cx="3602736" cy="1298448"/>
          </a:xfrm>
          <a:prstGeom prst="roundRect">
            <a:avLst>
              <a:gd name="adj" fmla="val 10000"/>
            </a:avLst>
          </a:prstGeom>
          <a:solidFill>
            <a:srgbClr val="E7EEF7"/>
          </a:solidFill>
          <a:ln w="12700">
            <a:solidFill>
              <a:srgbClr val="D3DF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91440"/>
          <a:lstStyle/>
          <a:p>
            <a:pPr algn="l" marL="0" indent="0">
              <a:buNone/>
            </a:pPr>
            <a:r>
              <a:rPr sz="1150" b="1" i="0">
                <a:solidFill>
                  <a:srgbClr val="1F497D"/>
                </a:solidFill>
                <a:latin typeface="Arial"/>
              </a:rPr>
              <a:t>MCP SERVER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sz="1000" b="0" i="0">
                <a:solidFill>
                  <a:srgbClr val="666E7A"/>
                </a:solidFill>
                <a:latin typeface="Arial"/>
              </a:rPr>
              <a:t>The agent's own ToolRegistry served over stdio, so an external MCP client drives the identical six tools.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472287" y="5358384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 marL="0" indent="0">
              <a:buNone/>
            </a:pPr>
            <a:r>
              <a:rPr sz="900" b="1" i="0">
                <a:solidFill>
                  <a:srgbClr val="365F91"/>
                </a:solidFill>
                <a:latin typeface="Arial"/>
              </a:rPr>
              <a:t>Python 3.12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1729587" y="5358384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 marL="0" indent="0">
              <a:buNone/>
            </a:pPr>
            <a:r>
              <a:rPr sz="900" b="1" i="0">
                <a:solidFill>
                  <a:srgbClr val="365F91"/>
                </a:solidFill>
                <a:latin typeface="Arial"/>
              </a:rPr>
              <a:t>EnergyPlus 26.1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2986887" y="5358384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 marL="0" indent="0">
              <a:buNone/>
            </a:pPr>
            <a:r>
              <a:rPr sz="900" b="1" i="0">
                <a:solidFill>
                  <a:srgbClr val="365F91"/>
                </a:solidFill>
                <a:latin typeface="Arial"/>
              </a:rPr>
              <a:t>pyenergyplus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4244187" y="5358384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 marL="0" indent="0">
              <a:buNone/>
            </a:pPr>
            <a:r>
              <a:rPr sz="900" b="1" i="0">
                <a:solidFill>
                  <a:srgbClr val="365F91"/>
                </a:solidFill>
                <a:latin typeface="Arial"/>
              </a:rPr>
              <a:t>Groq · Llama 3.3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5501487" y="5358384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 marL="0" indent="0">
              <a:buNone/>
            </a:pPr>
            <a:r>
              <a:rPr sz="900" b="1" i="0">
                <a:solidFill>
                  <a:srgbClr val="365F91"/>
                </a:solidFill>
                <a:latin typeface="Arial"/>
              </a:rPr>
              <a:t>MCP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6758787" y="5358384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 marL="0" indent="0">
              <a:buNone/>
            </a:pPr>
            <a:r>
              <a:rPr sz="900" b="1" i="0">
                <a:solidFill>
                  <a:srgbClr val="365F91"/>
                </a:solidFill>
                <a:latin typeface="Arial"/>
              </a:rPr>
              <a:t>FastAPI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8016087" y="5358384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 marL="0" indent="0">
              <a:buNone/>
            </a:pPr>
            <a:r>
              <a:rPr sz="900" b="1" i="0">
                <a:solidFill>
                  <a:srgbClr val="365F91"/>
                </a:solidFill>
                <a:latin typeface="Arial"/>
              </a:rPr>
              <a:t>React + Vite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9273387" y="5358384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 marL="0" indent="0">
              <a:buNone/>
            </a:pPr>
            <a:r>
              <a:rPr sz="900" b="1" i="0">
                <a:solidFill>
                  <a:srgbClr val="365F91"/>
                </a:solidFill>
                <a:latin typeface="Arial"/>
              </a:rPr>
              <a:t>Recharts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10530687" y="5358384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 marL="0" indent="0">
              <a:buNone/>
            </a:pPr>
            <a:r>
              <a:rPr sz="900" b="1" i="0">
                <a:solidFill>
                  <a:srgbClr val="365F91"/>
                </a:solidFill>
                <a:latin typeface="Arial"/>
              </a:rPr>
              <a:t>392 tests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932688"/>
            <a:ext cx="11185855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0" marR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sz="1450" b="1" i="1">
                <a:solidFill>
                  <a:srgbClr val="365F91"/>
                </a:solidFill>
                <a:latin typeface="Arial"/>
              </a:rPr>
              <a:t>It already runs — and it is engineered to fail safely.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17411" name="Rounded Rectangle 17410"/>
          <p:cNvSpPr/>
          <p:nvPr/>
        </p:nvSpPr>
        <p:spPr>
          <a:xfrm>
            <a:off x="502920" y="1408176"/>
            <a:ext cx="3602736" cy="1335024"/>
          </a:xfrm>
          <a:prstGeom prst="roundRect">
            <a:avLst>
              <a:gd name="adj" fmla="val 10000"/>
            </a:avLst>
          </a:prstGeom>
          <a:solidFill>
            <a:srgbClr val="ECF2E1"/>
          </a:solidFill>
          <a:ln w="12700">
            <a:solidFill>
              <a:srgbClr val="CFD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7412" name="Oval 17411"/>
          <p:cNvSpPr/>
          <p:nvPr/>
        </p:nvSpPr>
        <p:spPr>
          <a:xfrm>
            <a:off x="649224" y="1554480"/>
            <a:ext cx="274320" cy="274320"/>
          </a:xfrm>
          <a:prstGeom prst="ellipse">
            <a:avLst/>
          </a:prstGeom>
          <a:solidFill>
            <a:srgbClr val="5F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1033271" y="1554480"/>
            <a:ext cx="2907791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 algn="l">
              <a:buNone/>
            </a:pPr>
            <a:r>
              <a:rPr sz="1250" b="1" i="0">
                <a:solidFill>
                  <a:srgbClr val="5F8A2E"/>
                </a:solidFill>
                <a:latin typeface="Arial"/>
              </a:rPr>
              <a:t>RUNS TODAY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sz="1000" b="0" i="0">
                <a:solidFill>
                  <a:srgbClr val="333333"/>
                </a:solidFill>
                <a:latin typeface="Arial"/>
              </a:rPr>
              <a:t>Real EnergyPlus 26.1 and real Groq calls, measured at 465–2,449 ms per supervisory decision. Two CLI commands reproduce the headline number.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311396" y="1408176"/>
            <a:ext cx="3602736" cy="1335024"/>
          </a:xfrm>
          <a:prstGeom prst="roundRect">
            <a:avLst>
              <a:gd name="adj" fmla="val 10000"/>
            </a:avLst>
          </a:prstGeom>
          <a:solidFill>
            <a:srgbClr val="ECF2E1"/>
          </a:solidFill>
          <a:ln w="12700">
            <a:solidFill>
              <a:srgbClr val="CFD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7415" name="Oval 17414"/>
          <p:cNvSpPr/>
          <p:nvPr/>
        </p:nvSpPr>
        <p:spPr>
          <a:xfrm>
            <a:off x="4457700" y="1554480"/>
            <a:ext cx="274320" cy="274320"/>
          </a:xfrm>
          <a:prstGeom prst="ellipse">
            <a:avLst/>
          </a:prstGeom>
          <a:solidFill>
            <a:srgbClr val="5F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841748" y="1554480"/>
            <a:ext cx="2907791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 algn="l">
              <a:buNone/>
            </a:pPr>
            <a:r>
              <a:rPr sz="1250" b="1" i="0">
                <a:solidFill>
                  <a:srgbClr val="5F8A2E"/>
                </a:solidFill>
                <a:latin typeface="Arial"/>
              </a:rPr>
              <a:t>TESTED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sz="1000" b="0" i="0">
                <a:solidFill>
                  <a:srgbClr val="333333"/>
                </a:solidFill>
                <a:latin typeface="Arial"/>
              </a:rPr>
              <a:t>392 automated tests pass — 161 backend (pytest) and 231 frontend (vitest), including the EnergyPlus thread bridge and forward injection.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8119871" y="1408176"/>
            <a:ext cx="3602736" cy="1335024"/>
          </a:xfrm>
          <a:prstGeom prst="roundRect">
            <a:avLst>
              <a:gd name="adj" fmla="val 10000"/>
            </a:avLst>
          </a:prstGeom>
          <a:solidFill>
            <a:srgbClr val="ECF2E1"/>
          </a:solidFill>
          <a:ln w="12700">
            <a:solidFill>
              <a:srgbClr val="CFDD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7418" name="Oval 17417"/>
          <p:cNvSpPr/>
          <p:nvPr/>
        </p:nvSpPr>
        <p:spPr>
          <a:xfrm>
            <a:off x="8266175" y="1554480"/>
            <a:ext cx="274320" cy="274320"/>
          </a:xfrm>
          <a:prstGeom prst="ellipse">
            <a:avLst/>
          </a:prstGeom>
          <a:solidFill>
            <a:srgbClr val="5F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8650224" y="1554480"/>
            <a:ext cx="2907791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 algn="l">
              <a:buNone/>
            </a:pPr>
            <a:r>
              <a:rPr sz="1250" b="1" i="0">
                <a:solidFill>
                  <a:srgbClr val="5F8A2E"/>
                </a:solidFill>
                <a:latin typeface="Arial"/>
              </a:rPr>
              <a:t>EVIDENCED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sz="1000" b="0" i="0">
                <a:solidFill>
                  <a:srgbClr val="333333"/>
                </a:solidFill>
                <a:latin typeface="Arial"/>
              </a:rPr>
              <a:t>39 recorded runs · 39,690 telemetry rows · 5,021 decisions, each with its rationale and latency. Every run exports to CSV.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502920" y="2889504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 algn="ctr">
              <a:buNone/>
            </a:pPr>
            <a:r>
              <a:rPr sz="1250" b="1" i="0">
                <a:solidFill>
                  <a:srgbClr val="1F497D"/>
                </a:solidFill>
                <a:latin typeface="Arial"/>
              </a:rPr>
              <a:t>RISK   →   OUR ANSWER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502920" y="3255264"/>
            <a:ext cx="2651760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DF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7422" name="Rounded Rectangle 17421"/>
          <p:cNvSpPr/>
          <p:nvPr/>
        </p:nvSpPr>
        <p:spPr>
          <a:xfrm>
            <a:off x="502920" y="3255264"/>
            <a:ext cx="2651760" cy="603504"/>
          </a:xfrm>
          <a:prstGeom prst="roundRect">
            <a:avLst>
              <a:gd name="adj" fmla="val 16000"/>
            </a:avLst>
          </a:prstGeom>
          <a:solidFill>
            <a:srgbClr val="F7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 marL="0" indent="0">
              <a:buNone/>
            </a:pPr>
            <a:r>
              <a:rPr sz="1100" b="1" i="0">
                <a:solidFill>
                  <a:srgbClr val="C0504D"/>
                </a:solidFill>
                <a:latin typeface="Arial"/>
              </a:rPr>
              <a:t>Model latency on a 35,040-step year</a:t>
            </a:r>
          </a:p>
        </p:txBody>
      </p:sp>
      <p:sp>
        <p:nvSpPr>
          <p:cNvPr id="17423" name="Oval 17422"/>
          <p:cNvSpPr/>
          <p:nvPr/>
        </p:nvSpPr>
        <p:spPr>
          <a:xfrm>
            <a:off x="1691640" y="3931920"/>
            <a:ext cx="274320" cy="274320"/>
          </a:xfrm>
          <a:prstGeom prst="ellipse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↓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649224" y="4334256"/>
            <a:ext cx="2359152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 algn="l">
              <a:buNone/>
            </a:pPr>
            <a:r>
              <a:rPr sz="1000" b="0" i="0">
                <a:solidFill>
                  <a:srgbClr val="333333"/>
                </a:solidFill>
                <a:latin typeface="Arial"/>
              </a:rPr>
              <a:t>Two-tier control. The guard runs every step in microseconds; the LLM runs on a cadence and only chooses the policy. The loop never waits on a model.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3349447" y="3255264"/>
            <a:ext cx="2651760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DF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7426" name="Rounded Rectangle 17425"/>
          <p:cNvSpPr/>
          <p:nvPr/>
        </p:nvSpPr>
        <p:spPr>
          <a:xfrm>
            <a:off x="3349447" y="3255264"/>
            <a:ext cx="2651760" cy="603504"/>
          </a:xfrm>
          <a:prstGeom prst="roundRect">
            <a:avLst>
              <a:gd name="adj" fmla="val 16000"/>
            </a:avLst>
          </a:prstGeom>
          <a:solidFill>
            <a:srgbClr val="F7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 marL="0" indent="0">
              <a:buNone/>
            </a:pPr>
            <a:r>
              <a:rPr sz="1100" b="1" i="0">
                <a:solidFill>
                  <a:srgbClr val="C0504D"/>
                </a:solidFill>
                <a:latin typeface="Arial"/>
              </a:rPr>
              <a:t>A hallucinated or unsafe set-point</a:t>
            </a:r>
          </a:p>
        </p:txBody>
      </p:sp>
      <p:sp>
        <p:nvSpPr>
          <p:cNvPr id="17427" name="Oval 17426"/>
          <p:cNvSpPr/>
          <p:nvPr/>
        </p:nvSpPr>
        <p:spPr>
          <a:xfrm>
            <a:off x="4538167" y="3931920"/>
            <a:ext cx="274320" cy="274320"/>
          </a:xfrm>
          <a:prstGeom prst="ellipse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↓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3495751" y="4334256"/>
            <a:ext cx="2359152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 algn="l">
              <a:buNone/>
            </a:pPr>
            <a:r>
              <a:rPr sz="1000" b="0" i="0">
                <a:solidFill>
                  <a:srgbClr val="333333"/>
                </a:solidFill>
                <a:latin typeface="Arial"/>
              </a:rPr>
              <a:t>Safety lives in code, not in a prompt. Every action is clamped to hard comfort and equipment limits, and each override is recorded as guard_clamped.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6195974" y="3255264"/>
            <a:ext cx="2651760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DF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7430" name="Rounded Rectangle 17429"/>
          <p:cNvSpPr/>
          <p:nvPr/>
        </p:nvSpPr>
        <p:spPr>
          <a:xfrm>
            <a:off x="6195974" y="3255264"/>
            <a:ext cx="2651760" cy="603504"/>
          </a:xfrm>
          <a:prstGeom prst="roundRect">
            <a:avLst>
              <a:gd name="adj" fmla="val 16000"/>
            </a:avLst>
          </a:prstGeom>
          <a:solidFill>
            <a:srgbClr val="F7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 marL="0" indent="0">
              <a:buNone/>
            </a:pPr>
            <a:r>
              <a:rPr sz="1100" b="1" i="0">
                <a:solidFill>
                  <a:srgbClr val="C0504D"/>
                </a:solidFill>
                <a:latin typeface="Arial"/>
              </a:rPr>
              <a:t>Hosted API rate-limits, times out, or fails</a:t>
            </a:r>
          </a:p>
        </p:txBody>
      </p:sp>
      <p:sp>
        <p:nvSpPr>
          <p:cNvPr id="17431" name="Oval 17430"/>
          <p:cNvSpPr/>
          <p:nvPr/>
        </p:nvSpPr>
        <p:spPr>
          <a:xfrm>
            <a:off x="7384694" y="3931920"/>
            <a:ext cx="274320" cy="274320"/>
          </a:xfrm>
          <a:prstGeom prst="ellipse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↓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6342278" y="4334256"/>
            <a:ext cx="2359152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 algn="l">
              <a:buNone/>
            </a:pPr>
            <a:r>
              <a:rPr sz="1000" b="0" i="0">
                <a:solidFill>
                  <a:srgbClr val="333333"/>
                </a:solidFill>
                <a:latin typeface="Arial"/>
              </a:rPr>
              <a:t>Bounded retries → circuit breaker → baseline fallback through the same guard. One 192-step run completed with 44 of 48 supervisory calls degraded and zero crashes.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9042501" y="3255264"/>
            <a:ext cx="2651760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DF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7434" name="Rounded Rectangle 17433"/>
          <p:cNvSpPr/>
          <p:nvPr/>
        </p:nvSpPr>
        <p:spPr>
          <a:xfrm>
            <a:off x="9042501" y="3255264"/>
            <a:ext cx="2651760" cy="603504"/>
          </a:xfrm>
          <a:prstGeom prst="roundRect">
            <a:avLst>
              <a:gd name="adj" fmla="val 16000"/>
            </a:avLst>
          </a:prstGeom>
          <a:solidFill>
            <a:srgbClr val="F7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 marL="0" indent="0">
              <a:buNone/>
            </a:pPr>
            <a:r>
              <a:rPr sz="1100" b="1" i="0">
                <a:solidFill>
                  <a:srgbClr val="C0504D"/>
                </a:solidFill>
                <a:latin typeface="Arial"/>
              </a:rPr>
              <a:t>Logs and telemetry exceed any context window</a:t>
            </a:r>
          </a:p>
        </p:txBody>
      </p:sp>
      <p:sp>
        <p:nvSpPr>
          <p:cNvPr id="17435" name="Oval 17434"/>
          <p:cNvSpPr/>
          <p:nvPr/>
        </p:nvSpPr>
        <p:spPr>
          <a:xfrm>
            <a:off x="10231221" y="3931920"/>
            <a:ext cx="274320" cy="274320"/>
          </a:xfrm>
          <a:prstGeom prst="ellipse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↓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9188805" y="4334256"/>
            <a:ext cx="2359152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 algn="l">
              <a:buNone/>
            </a:pPr>
            <a:r>
              <a:rPr sz="1000" b="0" i="0">
                <a:solidFill>
                  <a:srgbClr val="333333"/>
                </a:solidFill>
                <a:latin typeface="Arial"/>
              </a:rPr>
              <a:t>logsummary.py compacts before prompting: severity filtering, warning de-duplication and statistical windowing of long traces.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ARTIFACTS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" y="932688"/>
            <a:ext cx="11185855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0" marR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sz="1450" b="1" i="1">
                <a:solidFill>
                  <a:srgbClr val="365F91"/>
                </a:solidFill>
                <a:latin typeface="Arial"/>
              </a:rPr>
              <a:t>The live dashboard on the real run: 32.1% less energy, zero comfort violations.</a:t>
            </a:r>
          </a:p>
        </p:txBody>
      </p:sp>
      <p:pic>
        <p:nvPicPr>
          <p:cNvPr id="17411" name="Picture 17410" descr="kpi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85855" cy="798990"/>
          </a:xfrm>
          <a:prstGeom prst="rect">
            <a:avLst/>
          </a:prstGeom>
        </p:spPr>
      </p:pic>
      <p:pic>
        <p:nvPicPr>
          <p:cNvPr id="17412" name="Picture 17411" descr="charts_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267712"/>
            <a:ext cx="6400800" cy="1433945"/>
          </a:xfrm>
          <a:prstGeom prst="rect">
            <a:avLst/>
          </a:prstGeom>
        </p:spPr>
      </p:pic>
      <p:pic>
        <p:nvPicPr>
          <p:cNvPr id="17413" name="Picture 17412" descr="reaso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9752" y="2267712"/>
            <a:ext cx="4526280" cy="1436914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502920" y="3785615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 algn="ctr">
              <a:buNone/>
            </a:pPr>
            <a:r>
              <a:rPr sz="900" b="0" i="1">
                <a:solidFill>
                  <a:srgbClr val="666E7A"/>
                </a:solidFill>
                <a:latin typeface="Arial"/>
              </a:rPr>
              <a:t>Live telemetry — zone temperature against the set-point band · agent vs baseline energy · PMV inside the ASHRAE-55 band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7159752" y="3785615"/>
            <a:ext cx="4526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 algn="ctr">
              <a:buNone/>
            </a:pPr>
            <a:r>
              <a:rPr sz="900" b="0" i="1">
                <a:solidFill>
                  <a:srgbClr val="666E7A"/>
                </a:solidFill>
                <a:latin typeface="Arial"/>
              </a:rPr>
              <a:t>Every decision explains itself — and the guard's overrides are on the record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502920" y="4206240"/>
            <a:ext cx="1517904" cy="676656"/>
          </a:xfrm>
          <a:prstGeom prst="roundRect">
            <a:avLst>
              <a:gd name="adj" fmla="val 14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 marL="0" indent="0">
              <a:buNone/>
            </a:pPr>
            <a:r>
              <a:rPr sz="1700" b="1" i="0">
                <a:solidFill>
                  <a:srgbClr val="FFFFFF"/>
                </a:solidFill>
                <a:latin typeface="Arial"/>
              </a:rPr>
              <a:t>32.1%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sz="850" b="0" i="0">
                <a:solidFill>
                  <a:srgbClr val="C9D6E8"/>
                </a:solidFill>
                <a:latin typeface="Arial"/>
              </a:rPr>
              <a:t>kWh saved vs baseline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2130552" y="4206240"/>
            <a:ext cx="1517904" cy="676656"/>
          </a:xfrm>
          <a:prstGeom prst="roundRect">
            <a:avLst>
              <a:gd name="adj" fmla="val 14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 marL="0" indent="0">
              <a:buNone/>
            </a:pPr>
            <a:r>
              <a:rPr sz="1700" b="1" i="0">
                <a:solidFill>
                  <a:srgbClr val="FFFFFF"/>
                </a:solidFill>
                <a:latin typeface="Arial"/>
              </a:rPr>
              <a:t>0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sz="850" b="0" i="0">
                <a:solidFill>
                  <a:srgbClr val="C9D6E8"/>
                </a:solidFill>
                <a:latin typeface="Arial"/>
              </a:rPr>
              <a:t>comfort violations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758183" y="4206240"/>
            <a:ext cx="1517904" cy="676656"/>
          </a:xfrm>
          <a:prstGeom prst="roundRect">
            <a:avLst>
              <a:gd name="adj" fmla="val 14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 marL="0" indent="0">
              <a:buNone/>
            </a:pPr>
            <a:r>
              <a:rPr sz="1700" b="1" i="0">
                <a:solidFill>
                  <a:srgbClr val="FFFFFF"/>
                </a:solidFill>
                <a:latin typeface="Arial"/>
              </a:rPr>
              <a:t>192/192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sz="850" b="0" i="0">
                <a:solidFill>
                  <a:srgbClr val="C9D6E8"/>
                </a:solidFill>
                <a:latin typeface="Arial"/>
              </a:rPr>
              <a:t>steps, zero crashes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5385815" y="4206240"/>
            <a:ext cx="1517904" cy="676656"/>
          </a:xfrm>
          <a:prstGeom prst="roundRect">
            <a:avLst>
              <a:gd name="adj" fmla="val 14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 marL="0" indent="0">
              <a:buNone/>
            </a:pPr>
            <a:r>
              <a:rPr sz="1700" b="1" i="0">
                <a:solidFill>
                  <a:srgbClr val="FFFFFF"/>
                </a:solidFill>
                <a:latin typeface="Arial"/>
              </a:rPr>
              <a:t>48.5 kg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sz="850" b="0" i="0">
                <a:solidFill>
                  <a:srgbClr val="C9D6E8"/>
                </a:solidFill>
                <a:latin typeface="Arial"/>
              </a:rPr>
              <a:t>CO₂ avoided in 2 days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7159752" y="4206240"/>
            <a:ext cx="4526280" cy="1700784"/>
          </a:xfrm>
          <a:prstGeom prst="roundRect">
            <a:avLst>
              <a:gd name="adj" fmla="val 10000"/>
            </a:avLst>
          </a:prstGeom>
          <a:solidFill>
            <a:srgbClr val="E7EEF7"/>
          </a:solidFill>
          <a:ln w="12700">
            <a:solidFill>
              <a:srgbClr val="D3DF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91440"/>
          <a:lstStyle/>
          <a:p>
            <a:pPr algn="l" marL="0" indent="0">
              <a:buNone/>
            </a:pPr>
            <a:r>
              <a:rPr sz="900" b="1" i="0">
                <a:solidFill>
                  <a:srgbClr val="365F91"/>
                </a:solidFill>
                <a:latin typeface="Arial"/>
              </a:rPr>
              <a:t>AGENT DECISION — VERBATIM FROM THE RUN LOG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1000" b="0" i="1">
                <a:solidFill>
                  <a:srgbClr val="333333"/>
                </a:solidFill>
                <a:latin typeface="Arial"/>
              </a:rPr>
              <a:t>“The zone is unoccupied and will remain so for the next 4 steps, so we can set back the temperature and turn off the lighting to save energy.”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850" b="0" i="0">
                <a:solidFill>
                  <a:srgbClr val="666E7A"/>
                </a:solidFill>
                <a:latin typeface="Arial"/>
              </a:rPr>
              <a:t>set_control_policy · setback · 19.0 / 20.5 °C · 849 ms · llama-3.3-70b-versatile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502920" y="5010912"/>
            <a:ext cx="6492240" cy="896112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D3DF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91440"/>
          <a:lstStyle/>
          <a:p>
            <a:pPr algn="l" marL="0" indent="0">
              <a:buNone/>
            </a:pPr>
            <a:r>
              <a:rPr sz="900" b="1" i="0">
                <a:solidFill>
                  <a:srgbClr val="365F91"/>
                </a:solidFill>
                <a:latin typeface="Arial"/>
              </a:rPr>
              <a:t>REPRODUCE THE HEADLINE NUMBER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sz="850" b="0" i="0">
                <a:solidFill>
                  <a:srgbClr val="1F497D"/>
                </a:solidFill>
                <a:latin typeface="Consolas"/>
              </a:rPr>
              <a:t>python cli.py --scenario summer_week --controller baseline --simulator energyplus --days 2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sz="850" b="0" i="0">
                <a:solidFill>
                  <a:srgbClr val="1F497D"/>
                </a:solidFill>
                <a:latin typeface="Consolas"/>
              </a:rPr>
              <a:t>python cli.py --scenario summer_week --controller rule --simulator energyplus --days 2 --compare &lt;id&gt;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502920" y="5980176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 algn="ctr">
              <a:buNone/>
            </a:pPr>
            <a:r>
              <a:rPr sz="950" b="0" i="0">
                <a:solidFill>
                  <a:srgbClr val="666E7A"/>
                </a:solidFill>
                <a:latin typeface="Arial"/>
              </a:rPr>
              <a:t>Artifacts:  backend/ (24 modules) · frontend/ (9 components) · small_office.idf + runtime-generated variants · docs/ARCHITECTURE.md · 392 tests</a:t>
            </a:r>
          </a:p>
        </p:txBody>
      </p:sp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932688"/>
            <a:ext cx="11185855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0" marR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sz="1450" b="1" i="1">
                <a:solidFill>
                  <a:srgbClr val="365F91"/>
                </a:solidFill>
                <a:latin typeface="Arial"/>
              </a:rPr>
              <a:t>WHY THIS SOLUTION WINS — six claims, each backed by something in the repository.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17411" name="Rounded Rectangle 17410"/>
          <p:cNvSpPr/>
          <p:nvPr/>
        </p:nvSpPr>
        <p:spPr>
          <a:xfrm>
            <a:off x="502920" y="1426464"/>
            <a:ext cx="3602736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DF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91440"/>
          <a:lstStyle/>
          <a:p>
            <a:pPr algn="l" marL="0" indent="0">
              <a:buNone/>
            </a:pPr>
            <a:r>
              <a:rPr sz="1200" b="1" i="0">
                <a:solidFill>
                  <a:srgbClr val="365F91"/>
                </a:solidFill>
                <a:latin typeface="Arial"/>
              </a:rPr>
              <a:t>REAL AI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sz="950" b="0" i="0">
                <a:solidFill>
                  <a:srgbClr val="333333"/>
                </a:solidFill>
                <a:latin typeface="Arial"/>
              </a:rPr>
              <a:t>An open-weight Llama 3.3 70B reasons over live telemetry and emits a policy through native tool-calling.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02920" y="1426464"/>
            <a:ext cx="100584" cy="1005840"/>
          </a:xfrm>
          <a:prstGeom prst="roundRect">
            <a:avLst>
              <a:gd name="adj" fmla="val 50000"/>
            </a:avLst>
          </a:prstGeom>
          <a:solidFill>
            <a:srgbClr val="365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4311396" y="1426464"/>
            <a:ext cx="3602736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DF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91440"/>
          <a:lstStyle/>
          <a:p>
            <a:pPr algn="l" marL="0" indent="0">
              <a:buNone/>
            </a:pPr>
            <a:r>
              <a:rPr sz="1200" b="1" i="0">
                <a:solidFill>
                  <a:srgbClr val="1F497D"/>
                </a:solidFill>
                <a:latin typeface="Arial"/>
              </a:rPr>
              <a:t>REAL SIMULATION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sz="950" b="0" i="0">
                <a:solidFill>
                  <a:srgbClr val="333333"/>
                </a:solidFill>
                <a:latin typeface="Arial"/>
              </a:rPr>
              <a:t>EnergyPlus 26.1 driven through its runtime API — actuators written mid-run, not a file regenerated between runs.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311396" y="1426464"/>
            <a:ext cx="100584" cy="1005840"/>
          </a:xfrm>
          <a:prstGeom prst="roundRect">
            <a:avLst>
              <a:gd name="adj" fmla="val 5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8119872" y="1426464"/>
            <a:ext cx="3602736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DF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91440"/>
          <a:lstStyle/>
          <a:p>
            <a:pPr algn="l" marL="0" indent="0">
              <a:buNone/>
            </a:pPr>
            <a:r>
              <a:rPr sz="1200" b="1" i="0">
                <a:solidFill>
                  <a:srgbClr val="365F91"/>
                </a:solidFill>
                <a:latin typeface="Arial"/>
              </a:rPr>
              <a:t>EXPLAINABLE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sz="950" b="0" i="0">
                <a:solidFill>
                  <a:srgbClr val="333333"/>
                </a:solidFill>
                <a:latin typeface="Arial"/>
              </a:rPr>
              <a:t>Every decision persists its rationale, tool call, latency and any guard override. The dashboard shows them live.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8119872" y="1426464"/>
            <a:ext cx="100584" cy="1005840"/>
          </a:xfrm>
          <a:prstGeom prst="roundRect">
            <a:avLst>
              <a:gd name="adj" fmla="val 50000"/>
            </a:avLst>
          </a:prstGeom>
          <a:solidFill>
            <a:srgbClr val="365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502920" y="2523744"/>
            <a:ext cx="3602736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DF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91440"/>
          <a:lstStyle/>
          <a:p>
            <a:pPr algn="l" marL="0" indent="0">
              <a:buNone/>
            </a:pPr>
            <a:r>
              <a:rPr sz="1200" b="1" i="0">
                <a:solidFill>
                  <a:srgbClr val="5F8A2E"/>
                </a:solidFill>
                <a:latin typeface="Arial"/>
              </a:rPr>
              <a:t>SAFE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sz="950" b="0" i="0">
                <a:solidFill>
                  <a:srgbClr val="333333"/>
                </a:solidFill>
                <a:latin typeface="Arial"/>
              </a:rPr>
              <a:t>A deterministic guard clamps every action to hard comfort and equipment limits, so a hallucinated set-point cannot reach the building.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502920" y="2523744"/>
            <a:ext cx="100584" cy="1005840"/>
          </a:xfrm>
          <a:prstGeom prst="roundRect">
            <a:avLst>
              <a:gd name="adj" fmla="val 50000"/>
            </a:avLst>
          </a:prstGeom>
          <a:solidFill>
            <a:srgbClr val="5F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4311396" y="2523744"/>
            <a:ext cx="3602736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DF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91440"/>
          <a:lstStyle/>
          <a:p>
            <a:pPr algn="l" marL="0" indent="0">
              <a:buNone/>
            </a:pPr>
            <a:r>
              <a:rPr sz="1200" b="1" i="0">
                <a:solidFill>
                  <a:srgbClr val="4F81BD"/>
                </a:solidFill>
                <a:latin typeface="Arial"/>
              </a:rPr>
              <a:t>SCALABLE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sz="950" b="0" i="0">
                <a:solidFill>
                  <a:srgbClr val="333333"/>
                </a:solidFill>
                <a:latin typeface="Arial"/>
              </a:rPr>
              <a:t>The simulator sits behind a Protocol and the model is named in .env — neither vendor is locked in; the MCP server opens the tools to any client.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4311396" y="2523744"/>
            <a:ext cx="100584" cy="1005840"/>
          </a:xfrm>
          <a:prstGeom prst="roundRect">
            <a:avLst>
              <a:gd name="adj" fmla="val 50000"/>
            </a:avLst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8119872" y="2523744"/>
            <a:ext cx="3602736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DF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91440"/>
          <a:lstStyle/>
          <a:p>
            <a:pPr algn="l" marL="0" indent="0">
              <a:buNone/>
            </a:pPr>
            <a:r>
              <a:rPr sz="1200" b="1" i="0">
                <a:solidFill>
                  <a:srgbClr val="E37C24"/>
                </a:solidFill>
                <a:latin typeface="Arial"/>
              </a:rPr>
              <a:t>PRODUCTION-READY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sz="950" b="0" i="0">
                <a:solidFill>
                  <a:srgbClr val="333333"/>
                </a:solidFill>
                <a:latin typeface="Arial"/>
              </a:rPr>
              <a:t>392 passing tests, a typed API, an evidence store and CSV export — a controlled experiment anyone can re-run.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8119872" y="2523744"/>
            <a:ext cx="100584" cy="1005840"/>
          </a:xfrm>
          <a:prstGeom prst="roundRect">
            <a:avLst>
              <a:gd name="adj" fmla="val 50000"/>
            </a:avLst>
          </a:prstGeom>
          <a:solidFill>
            <a:srgbClr val="E37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502920" y="3712463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 algn="ctr">
              <a:buNone/>
            </a:pPr>
            <a:r>
              <a:rPr sz="1200" b="1" i="0">
                <a:solidFill>
                  <a:srgbClr val="1F497D"/>
                </a:solidFill>
                <a:latin typeface="Arial"/>
              </a:rPr>
              <a:t>RESEARCH AND REFERENCES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502920" y="4023360"/>
            <a:ext cx="3602736" cy="1572768"/>
          </a:xfrm>
          <a:prstGeom prst="roundRect">
            <a:avLst>
              <a:gd name="adj" fmla="val 10000"/>
            </a:avLst>
          </a:prstGeom>
          <a:solidFill>
            <a:srgbClr val="E7EEF7"/>
          </a:solidFill>
          <a:ln w="12700">
            <a:solidFill>
              <a:srgbClr val="D3DF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91440"/>
          <a:lstStyle/>
          <a:p>
            <a:pPr algn="l" marL="0" indent="0">
              <a:buNone/>
            </a:pPr>
            <a:r>
              <a:rPr sz="1050" b="1" i="0">
                <a:solidFill>
                  <a:srgbClr val="365F91"/>
                </a:solidFill>
                <a:latin typeface="Arial"/>
              </a:rPr>
              <a:t>STANDARDS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950" b="0" i="0">
                <a:solidFill>
                  <a:srgbClr val="333333"/>
                </a:solidFill>
                <a:latin typeface="Arial"/>
              </a:rPr>
              <a:t>•  Fanger PMV / PPD thermal comfort — ISO 7730 Annex D and ANSI/ASHRAE Standard 55; implemented in app/comfort.py.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950" b="0" i="0">
                <a:solidFill>
                  <a:srgbClr val="333333"/>
                </a:solidFill>
                <a:latin typeface="Arial"/>
              </a:rPr>
              <a:t>•  EnergyPlus Weather (EPW) hourly format — parsed in app/sim/weather.py.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4311396" y="4023360"/>
            <a:ext cx="3602736" cy="1572768"/>
          </a:xfrm>
          <a:prstGeom prst="roundRect">
            <a:avLst>
              <a:gd name="adj" fmla="val 10000"/>
            </a:avLst>
          </a:prstGeom>
          <a:solidFill>
            <a:srgbClr val="E7EEF7"/>
          </a:solidFill>
          <a:ln w="12700">
            <a:solidFill>
              <a:srgbClr val="D3DF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91440"/>
          <a:lstStyle/>
          <a:p>
            <a:pPr algn="l" marL="0" indent="0">
              <a:buNone/>
            </a:pPr>
            <a:r>
              <a:rPr sz="1050" b="1" i="0">
                <a:solidFill>
                  <a:srgbClr val="365F91"/>
                </a:solidFill>
                <a:latin typeface="Arial"/>
              </a:rPr>
              <a:t>SIMULATION ENGINE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950" b="0" i="0">
                <a:solidFill>
                  <a:srgbClr val="333333"/>
                </a:solidFill>
                <a:latin typeface="Arial"/>
              </a:rPr>
              <a:t>•  EnergyPlus 26.1 and its runtime Python API (pyenergyplus), NREL — github.com/NREL/EnergyPlus/releases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950" b="0" i="0">
                <a:solidFill>
                  <a:srgbClr val="333333"/>
                </a:solidFill>
                <a:latin typeface="Arial"/>
              </a:rPr>
              <a:t>•  Baseline model derived from the distribution example MovableExtInsulationSimple.idf.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8119871" y="4023360"/>
            <a:ext cx="3602736" cy="1572768"/>
          </a:xfrm>
          <a:prstGeom prst="roundRect">
            <a:avLst>
              <a:gd name="adj" fmla="val 10000"/>
            </a:avLst>
          </a:prstGeom>
          <a:solidFill>
            <a:srgbClr val="E7EEF7"/>
          </a:solidFill>
          <a:ln w="12700">
            <a:solidFill>
              <a:srgbClr val="D3DF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91440"/>
          <a:lstStyle/>
          <a:p>
            <a:pPr algn="l" marL="0" indent="0">
              <a:buNone/>
            </a:pPr>
            <a:r>
              <a:rPr sz="1050" b="1" i="0">
                <a:solidFill>
                  <a:srgbClr val="365F91"/>
                </a:solidFill>
                <a:latin typeface="Arial"/>
              </a:rPr>
              <a:t>MODEL AND PROTOCOL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950" b="0" i="0">
                <a:solidFill>
                  <a:srgbClr val="333333"/>
                </a:solidFill>
                <a:latin typeface="Arial"/>
              </a:rPr>
              <a:t>•  Groq inference API serving open-weight Llama 3.3 70B (llama-3.3-70b-versatile) — console.groq.com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sz="950" b="0" i="0">
                <a:solidFill>
                  <a:srgbClr val="333333"/>
                </a:solidFill>
                <a:latin typeface="Arial"/>
              </a:rPr>
              <a:t>•  Model Context Protocol — official Python SDK (mcp ≥ 1.0), wrapping the agent's own ToolRegistry.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502920" y="5705856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0" indent="0" algn="ctr">
              <a:buNone/>
            </a:pPr>
            <a:r>
              <a:rPr sz="1000" b="0" i="1">
                <a:solidFill>
                  <a:srgbClr val="666E7A"/>
                </a:solidFill>
                <a:latin typeface="Arial"/>
              </a:rPr>
              <a:t>Full design rationale, sequence and data-flow diagrams, database schema and design decisions D1–D11:  docs/ARCHITECTURE.md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7668</TotalTime>
  <Words>320</Words>
  <Application>Microsoft Office PowerPoint</Application>
  <PresentationFormat>Widescreen</PresentationFormat>
  <Paragraphs>60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PowerPoint Presentation</vt:lpstr>
      <vt:lpstr> IDEA TITLE</vt:lpstr>
      <vt:lpstr>TECHNICAL APPROACH</vt:lpstr>
      <vt:lpstr>FEASIBILITY AND VIABILITY</vt:lpstr>
      <vt:lpstr>ARTIFACTS</vt:lpstr>
      <vt:lpstr>RESEARCH  AND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cp:keywords/>
  <dc:description/>
  <cp:lastModifiedBy>Ramesh MV (HirePro)</cp:lastModifiedBy>
  <cp:revision>153</cp:revision>
  <dcterms:created xsi:type="dcterms:W3CDTF">2013-12-12T18:46:50Z</dcterms:created>
  <dcterms:modified xsi:type="dcterms:W3CDTF">2026-07-24T16:33:04Z</dcterms:modified>
  <cp:category/>
</cp:coreProperties>
</file>